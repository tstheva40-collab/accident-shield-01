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0"/>
  </p:notesMasterIdLst>
  <p:handoutMasterIdLst>
    <p:handoutMasterId r:id="rId21"/>
  </p:handoutMasterIdLst>
  <p:sldIdLst>
    <p:sldId id="328" r:id="rId5"/>
    <p:sldId id="281" r:id="rId6"/>
    <p:sldId id="314" r:id="rId7"/>
    <p:sldId id="282" r:id="rId8"/>
    <p:sldId id="315" r:id="rId9"/>
    <p:sldId id="317" r:id="rId10"/>
    <p:sldId id="318" r:id="rId11"/>
    <p:sldId id="327" r:id="rId12"/>
    <p:sldId id="319" r:id="rId13"/>
    <p:sldId id="324" r:id="rId14"/>
    <p:sldId id="326" r:id="rId15"/>
    <p:sldId id="321" r:id="rId16"/>
    <p:sldId id="323" r:id="rId17"/>
    <p:sldId id="322" r:id="rId18"/>
    <p:sldId id="297" r:id="rId19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0824DFA-744F-4826-A9B7-CB7F9E3CD11B}">
          <p14:sldIdLst>
            <p14:sldId id="328"/>
            <p14:sldId id="281"/>
            <p14:sldId id="314"/>
            <p14:sldId id="282"/>
            <p14:sldId id="315"/>
            <p14:sldId id="317"/>
            <p14:sldId id="318"/>
            <p14:sldId id="327"/>
          </p14:sldIdLst>
        </p14:section>
        <p14:section name="Untitled Section" id="{39833069-68B9-4C21-A161-93F9F44923ED}">
          <p14:sldIdLst>
            <p14:sldId id="319"/>
            <p14:sldId id="324"/>
            <p14:sldId id="326"/>
            <p14:sldId id="321"/>
            <p14:sldId id="323"/>
            <p14:sldId id="322"/>
            <p14:sldId id="297"/>
          </p14:sldIdLst>
        </p14:section>
      </p14:sectionLst>
    </p:ex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F0FE"/>
    <a:srgbClr val="202C8F"/>
    <a:srgbClr val="FDFBF6"/>
    <a:srgbClr val="AAC4E9"/>
    <a:srgbClr val="F5CDCE"/>
    <a:srgbClr val="DF8C8C"/>
    <a:srgbClr val="D4D593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2245DC-F01A-4524-9371-D059489ED3CB}" v="9" dt="2026-03-02T17:07:11.573"/>
  </p1510:revLst>
</p1510:revInfo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861" autoAdjust="0"/>
    <p:restoredTop sz="94602" autoAdjust="0"/>
  </p:normalViewPr>
  <p:slideViewPr>
    <p:cSldViewPr snapToGrid="0" snapToObjects="1">
      <p:cViewPr>
        <p:scale>
          <a:sx n="66" d="100"/>
          <a:sy n="66" d="100"/>
        </p:scale>
        <p:origin x="1118" y="269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406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5B852-D535-11B7-1E72-3B0DB89C9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4870"/>
            <a:ext cx="6583680" cy="4728259"/>
          </a:xfrm>
        </p:spPr>
        <p:txBody>
          <a:bodyPr/>
          <a:lstStyle/>
          <a:p>
            <a:r>
              <a:rPr lang="en-US" sz="4800" dirty="0"/>
              <a:t>accident </a:t>
            </a:r>
            <a:br>
              <a:rPr lang="en-US" sz="4800" dirty="0"/>
            </a:br>
            <a:r>
              <a:rPr lang="en-US" sz="4800" dirty="0"/>
              <a:t>shield - IoT based smart crash detection system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1335542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01041"/>
            <a:ext cx="4880344" cy="894079"/>
          </a:xfrm>
        </p:spPr>
        <p:txBody>
          <a:bodyPr/>
          <a:lstStyle/>
          <a:p>
            <a:r>
              <a:rPr lang="en-US" sz="4000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4363" y="1798321"/>
            <a:ext cx="8630093" cy="822960"/>
          </a:xfrm>
        </p:spPr>
        <p:txBody>
          <a:bodyPr>
            <a:noAutofit/>
          </a:bodyPr>
          <a:lstStyle/>
          <a:p>
            <a:r>
              <a:rPr lang="en-US" sz="2800" dirty="0"/>
              <a:t>Accident Shield – An IoT Based Smart Crash Detection System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0C12F8-71FD-1063-ACEC-34D29505359A}"/>
              </a:ext>
            </a:extLst>
          </p:cNvPr>
          <p:cNvSpPr/>
          <p:nvPr/>
        </p:nvSpPr>
        <p:spPr>
          <a:xfrm flipH="1">
            <a:off x="1635760" y="2621281"/>
            <a:ext cx="9611360" cy="388369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Accidents occurs almost everyday in a daily basis and many victim lose their lives due to the lack of help and timely responses.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Rider may get unconscious.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No immediate alert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 Delayed response are the major problems.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5"/>
            <a:ext cx="7043617" cy="680086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 flipH="1">
            <a:off x="11426026" y="457199"/>
            <a:ext cx="3011333" cy="471489"/>
          </a:xfrm>
        </p:spPr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82408" y="2386350"/>
            <a:ext cx="7043618" cy="223323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Accidents are often unnoticed 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Rider may not be able to call for help.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Delayed in emergency responses.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457200"/>
            <a:ext cx="7965461" cy="978062"/>
          </a:xfrm>
        </p:spPr>
        <p:txBody>
          <a:bodyPr/>
          <a:lstStyle/>
          <a:p>
            <a:r>
              <a:rPr lang="en-US" dirty="0"/>
              <a:t>existing SOLUTION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23125" y="1609509"/>
            <a:ext cx="7965460" cy="1997292"/>
          </a:xfrm>
        </p:spPr>
        <p:txBody>
          <a:bodyPr>
            <a:normAutofit/>
          </a:bodyPr>
          <a:lstStyle/>
          <a:p>
            <a:r>
              <a:rPr lang="en-US" sz="2400" dirty="0"/>
              <a:t>Depends on people nearby.</a:t>
            </a:r>
          </a:p>
          <a:p>
            <a:r>
              <a:rPr lang="en-US" sz="2400" dirty="0"/>
              <a:t>No automatic emergency response.</a:t>
            </a:r>
          </a:p>
          <a:p>
            <a:r>
              <a:rPr lang="en-US" sz="2400" dirty="0"/>
              <a:t>More delay may be life risking.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 flipH="1">
            <a:off x="11426026" y="457199"/>
            <a:ext cx="1954694" cy="471489"/>
          </a:xfrm>
        </p:spPr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4" name="Rectangle: Single Corner Snipped 3">
            <a:extLst>
              <a:ext uri="{FF2B5EF4-FFF2-40B4-BE49-F238E27FC236}">
                <a16:creationId xmlns:a16="http://schemas.microsoft.com/office/drawing/2014/main" id="{90AB72F9-7051-431B-D56D-89EB8FB849AB}"/>
              </a:ext>
            </a:extLst>
          </p:cNvPr>
          <p:cNvSpPr/>
          <p:nvPr/>
        </p:nvSpPr>
        <p:spPr>
          <a:xfrm>
            <a:off x="2895601" y="3165604"/>
            <a:ext cx="5039359" cy="882394"/>
          </a:xfrm>
          <a:prstGeom prst="snip1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OUR SOLUTION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FA85D3-627F-B5A4-C847-CDB17389D93C}"/>
              </a:ext>
            </a:extLst>
          </p:cNvPr>
          <p:cNvSpPr/>
          <p:nvPr/>
        </p:nvSpPr>
        <p:spPr>
          <a:xfrm>
            <a:off x="3623125" y="4047998"/>
            <a:ext cx="6338659" cy="2433825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75000"/>
                  </a:schemeClr>
                </a:solidFill>
              </a:rPr>
              <a:t>Detect accident automatically by sudden tilt or abnormal activity.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75000"/>
                  </a:schemeClr>
                </a:solidFill>
              </a:rPr>
              <a:t>Sends live location of the accident place automatically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75000"/>
                  </a:schemeClr>
                </a:solidFill>
              </a:rPr>
              <a:t>Activate buzzer .</a:t>
            </a:r>
          </a:p>
          <a:p>
            <a:pPr algn="just"/>
            <a:endParaRPr lang="en-IN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268" y="317495"/>
            <a:ext cx="7796464" cy="1222385"/>
          </a:xfrm>
        </p:spPr>
        <p:txBody>
          <a:bodyPr/>
          <a:lstStyle/>
          <a:p>
            <a:r>
              <a:rPr lang="en-US" dirty="0"/>
              <a:t>Working principle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 flipH="1">
            <a:off x="11426027" y="457199"/>
            <a:ext cx="3406392" cy="471489"/>
          </a:xfrm>
        </p:spPr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3268" y="2164804"/>
            <a:ext cx="7878726" cy="3970181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When vehicle tilt ,crash or impact occurs, the MPU6050 detects and then ESP32 process to confirm the accident and shares live location and then buzzer is activated.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For every 10 mins / secs the buzzer activates 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We’re using impact threshold above 4g acceleration and 150 – 400 Hz transition spike, so normal road vibrations are ignored.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Frequency alone is not sufficient, so we correlate it with acceleration magnitude.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92943"/>
            <a:ext cx="7631709" cy="1091627"/>
          </a:xfrm>
        </p:spPr>
        <p:txBody>
          <a:bodyPr/>
          <a:lstStyle/>
          <a:p>
            <a:r>
              <a:rPr lang="en-US" sz="4000" dirty="0"/>
              <a:t>Components</a:t>
            </a:r>
            <a:r>
              <a:rPr lang="en-US" dirty="0"/>
              <a:t> </a:t>
            </a:r>
            <a:r>
              <a:rPr lang="en-US" sz="4000" dirty="0"/>
              <a:t>used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" y="2303463"/>
            <a:ext cx="4699322" cy="3715371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ptos" panose="020B0004020202020204" pitchFamily="34" charset="0"/>
              </a:rPr>
              <a:t>ESP32</a:t>
            </a:r>
          </a:p>
          <a:p>
            <a:r>
              <a:rPr lang="en-US" sz="2800" dirty="0">
                <a:latin typeface="Aptos" panose="020B0004020202020204" pitchFamily="34" charset="0"/>
              </a:rPr>
              <a:t>MPU6050</a:t>
            </a:r>
          </a:p>
          <a:p>
            <a:r>
              <a:rPr lang="en-US" sz="2800" dirty="0">
                <a:latin typeface="Aptos" panose="020B0004020202020204" pitchFamily="34" charset="0"/>
              </a:rPr>
              <a:t>BUZZER</a:t>
            </a:r>
          </a:p>
          <a:p>
            <a:r>
              <a:rPr lang="en-US" sz="2800" dirty="0">
                <a:latin typeface="Aptos" panose="020B0004020202020204" pitchFamily="34" charset="0"/>
              </a:rPr>
              <a:t>JUMPER WIRES</a:t>
            </a:r>
          </a:p>
          <a:p>
            <a:r>
              <a:rPr lang="en-US" sz="2800" dirty="0">
                <a:latin typeface="Aptos" panose="020B0004020202020204" pitchFamily="34" charset="0"/>
              </a:rPr>
              <a:t>CONNECTION MODULE </a:t>
            </a:r>
          </a:p>
          <a:p>
            <a:endParaRPr lang="en-US" sz="2800" dirty="0">
              <a:latin typeface="Aptos" panose="020B0004020202020204" pitchFamily="34" charset="0"/>
            </a:endParaRPr>
          </a:p>
          <a:p>
            <a:endParaRPr lang="en-US" sz="2800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 flipH="1">
            <a:off x="11426026" y="457199"/>
            <a:ext cx="1009814" cy="471489"/>
          </a:xfrm>
        </p:spPr>
        <p:txBody>
          <a:bodyPr/>
          <a:lstStyle/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96036"/>
            <a:ext cx="7843837" cy="1012782"/>
          </a:xfrm>
        </p:spPr>
        <p:txBody>
          <a:bodyPr/>
          <a:lstStyle/>
          <a:p>
            <a:r>
              <a:rPr lang="en-US" dirty="0"/>
              <a:t>How it works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1568091"/>
            <a:ext cx="8261498" cy="5093873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 Motion Monitoring: the accelerometer sensor connected to the ESP32 continuously monitor the vehicle movement.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Impact Confirmation: It does not detect false detections. When the vehicle is tends to sudden tilt or abnormal only it detects.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Alert Trigger: If the accident is detected the buzzer is on and activated the emergency mode to send location through </a:t>
            </a:r>
            <a:r>
              <a:rPr lang="en-US" dirty="0" err="1"/>
              <a:t>blynk</a:t>
            </a:r>
            <a:r>
              <a:rPr lang="en-US" dirty="0"/>
              <a:t> app.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Emergency Notification: It sends signal as location to the </a:t>
            </a:r>
            <a:r>
              <a:rPr lang="en-US" dirty="0" err="1"/>
              <a:t>blynk</a:t>
            </a:r>
            <a:r>
              <a:rPr lang="en-US" dirty="0"/>
              <a:t> app and sends alerts to the user. </a:t>
            </a:r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14A1088-C672-F257-7BDC-CCE2A58438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 flipH="1">
            <a:off x="12191999" y="6528391"/>
            <a:ext cx="45719" cy="329609"/>
          </a:xfrm>
        </p:spPr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8F6B86-FEB5-9495-D029-43FA6EC89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12578B-D9FC-A600-1EB2-F8AF5150C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3" y="0"/>
            <a:ext cx="120029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882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1342" y="202521"/>
            <a:ext cx="9879437" cy="726167"/>
          </a:xfrm>
        </p:spPr>
        <p:txBody>
          <a:bodyPr/>
          <a:lstStyle/>
          <a:p>
            <a:r>
              <a:rPr lang="en-US" sz="4800" dirty="0"/>
              <a:t>System</a:t>
            </a:r>
            <a:r>
              <a:rPr lang="en-US" dirty="0"/>
              <a:t> </a:t>
            </a:r>
            <a:r>
              <a:rPr lang="en-US" sz="4800" dirty="0"/>
              <a:t>architecture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 flipH="1">
            <a:off x="11426026" y="457199"/>
            <a:ext cx="2608951" cy="471489"/>
          </a:xfrm>
        </p:spPr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BC8B894-B8EA-9580-9DE1-28ADD715B6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41342" y="1148316"/>
            <a:ext cx="9753103" cy="1499191"/>
          </a:xfrm>
        </p:spPr>
        <p:txBody>
          <a:bodyPr>
            <a:normAutofit/>
          </a:bodyPr>
          <a:lstStyle/>
          <a:p>
            <a:r>
              <a:rPr lang="en-IN" sz="2800" dirty="0"/>
              <a:t>The architecture integrates sensing, processing, alerting and communication modules.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C89A3E-F80B-8604-C49B-DA3BABE6A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582" y="2188803"/>
            <a:ext cx="9090836" cy="4413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AE7D4-F526-4EF7-E62A-BF4A8539C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Components layout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20BDD1A-7D42-4A21-8458-17F15B91078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3620615" y="2316163"/>
            <a:ext cx="5098407" cy="394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538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91CFD-75CA-346F-143A-383461441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1880" y="820264"/>
            <a:ext cx="9875463" cy="999746"/>
          </a:xfrm>
        </p:spPr>
        <p:txBody>
          <a:bodyPr/>
          <a:lstStyle/>
          <a:p>
            <a:r>
              <a:rPr lang="en-IN" dirty="0"/>
              <a:t>Initial prototype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2700DB1-3443-2310-6F26-E3106767823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539476" y="2303463"/>
            <a:ext cx="7897637" cy="396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708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8816180" cy="3961593"/>
          </a:xfrm>
        </p:spPr>
        <p:txBody>
          <a:bodyPr>
            <a:normAutofit/>
          </a:bodyPr>
          <a:lstStyle/>
          <a:p>
            <a:r>
              <a:rPr lang="en-US" sz="2000" dirty="0"/>
              <a:t>Cannot detect minor falls</a:t>
            </a:r>
          </a:p>
          <a:p>
            <a:pPr lvl="1"/>
            <a:r>
              <a:rPr lang="en-US" sz="2000" dirty="0"/>
              <a:t>Works only when power is on.</a:t>
            </a:r>
          </a:p>
          <a:p>
            <a:r>
              <a:rPr lang="en-US" sz="2000" dirty="0"/>
              <a:t>Needs power supply for function.</a:t>
            </a:r>
          </a:p>
          <a:p>
            <a:pPr lvl="1"/>
            <a:r>
              <a:rPr lang="en-US" sz="2000" dirty="0"/>
              <a:t>Possible false alerts on severe bumps along with sudden tilt.</a:t>
            </a:r>
          </a:p>
          <a:p>
            <a:r>
              <a:rPr lang="en-US" sz="2000" dirty="0"/>
              <a:t>Accuracy depends upon proper sensor placement.</a:t>
            </a:r>
          </a:p>
          <a:p>
            <a:pPr lvl="1"/>
            <a:r>
              <a:rPr lang="en-US" sz="2000" dirty="0"/>
              <a:t>This system is impact based and not motion-based.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 flipH="1">
            <a:off x="11426027" y="457199"/>
            <a:ext cx="3385126" cy="471489"/>
          </a:xfrm>
        </p:spPr>
        <p:txBody>
          <a:bodyPr/>
          <a:lstStyle/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793A0-D08C-C341-6937-036954A91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5F37D-9767-DD50-B9C0-B0BBCC1E2D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Instant accident detection.</a:t>
            </a:r>
          </a:p>
          <a:p>
            <a:r>
              <a:rPr lang="en-IN" sz="2400" dirty="0"/>
              <a:t>Automatic emergency alert.</a:t>
            </a:r>
          </a:p>
          <a:p>
            <a:r>
              <a:rPr lang="en-IN" sz="2400" dirty="0"/>
              <a:t>Improves survival during golden hour.</a:t>
            </a:r>
          </a:p>
          <a:p>
            <a:r>
              <a:rPr lang="en-IN" sz="2400" dirty="0"/>
              <a:t>Low – cost implementation.</a:t>
            </a:r>
          </a:p>
          <a:p>
            <a:r>
              <a:rPr lang="en-IN" sz="2400" dirty="0"/>
              <a:t>Works without human intervention.</a:t>
            </a:r>
          </a:p>
          <a:p>
            <a:r>
              <a:rPr lang="en-IN" sz="2400" dirty="0"/>
              <a:t>Easy to install in bikes.</a:t>
            </a:r>
          </a:p>
          <a:p>
            <a:r>
              <a:rPr lang="en-IN" sz="2400" dirty="0"/>
              <a:t>Real – time response system.</a:t>
            </a:r>
          </a:p>
        </p:txBody>
      </p:sp>
    </p:spTree>
    <p:extLst>
      <p:ext uri="{BB962C8B-B14F-4D97-AF65-F5344CB8AC3E}">
        <p14:creationId xmlns:p14="http://schemas.microsoft.com/office/powerpoint/2010/main" val="917465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/>
          <a:lstStyle/>
          <a:p>
            <a:r>
              <a:rPr lang="en-US" dirty="0"/>
              <a:t>Future scope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 flipH="1">
            <a:off x="11426026" y="457199"/>
            <a:ext cx="1503165" cy="471489"/>
          </a:xfrm>
        </p:spPr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323121-C914-2DBC-D440-FB184CA2DD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4400" y="2316067"/>
            <a:ext cx="10511627" cy="3638166"/>
          </a:xfrm>
        </p:spPr>
        <p:txBody>
          <a:bodyPr>
            <a:noAutofit/>
          </a:bodyPr>
          <a:lstStyle/>
          <a:p>
            <a:r>
              <a:rPr lang="en-IN" sz="2800" dirty="0"/>
              <a:t>Add GPS for live location tracking.</a:t>
            </a:r>
          </a:p>
          <a:p>
            <a:r>
              <a:rPr lang="en-IN" sz="2800" dirty="0"/>
              <a:t>AI based accident  validation.</a:t>
            </a:r>
          </a:p>
          <a:p>
            <a:r>
              <a:rPr lang="en-IN" sz="2800" dirty="0"/>
              <a:t>Auto ambulance notification.</a:t>
            </a:r>
          </a:p>
          <a:p>
            <a:r>
              <a:rPr lang="en-IN" sz="2800" dirty="0"/>
              <a:t>Mobile app integration.</a:t>
            </a:r>
          </a:p>
          <a:p>
            <a:r>
              <a:rPr lang="en-IN" sz="2800" dirty="0"/>
              <a:t>Cloud data storage.</a:t>
            </a:r>
          </a:p>
          <a:p>
            <a:r>
              <a:rPr lang="en-IN" sz="2800" dirty="0"/>
              <a:t>Helmet – based rider safety detection.</a:t>
            </a:r>
          </a:p>
          <a:p>
            <a:pPr marL="0" indent="0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44810" y="3200401"/>
            <a:ext cx="3987209" cy="606056"/>
          </a:xfrm>
        </p:spPr>
        <p:txBody>
          <a:bodyPr/>
          <a:lstStyle/>
          <a:p>
            <a:pPr algn="ctr"/>
            <a:r>
              <a:rPr lang="en-US" sz="4000" dirty="0">
                <a:latin typeface="Bookman Old Style" panose="02050604050505020204" pitchFamily="18" charset="0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9731" y="1176732"/>
            <a:ext cx="5715000" cy="1183696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lgerian" panose="04020705040A02060702" pitchFamily="82" charset="0"/>
              </a:rPr>
              <a:t>“Safety should not wait for human reaction”</a:t>
            </a: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AF373F50-B191-E834-868C-FED2B0DA21DA}"/>
              </a:ext>
            </a:extLst>
          </p:cNvPr>
          <p:cNvSpPr/>
          <p:nvPr/>
        </p:nvSpPr>
        <p:spPr>
          <a:xfrm>
            <a:off x="1805650" y="3518704"/>
            <a:ext cx="5613721" cy="2639028"/>
          </a:xfrm>
          <a:prstGeom prst="round2Diag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TEAM NAME: Next Gen Ninjas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TEAM MEMBERS: S G Srinidhi</a:t>
            </a:r>
          </a:p>
          <a:p>
            <a:pPr algn="ctr"/>
            <a:r>
              <a:rPr lang="en-IN" dirty="0"/>
              <a:t>                                                 </a:t>
            </a:r>
            <a:r>
              <a:rPr lang="en-IN" dirty="0" err="1"/>
              <a:t>Thevaharinysha</a:t>
            </a:r>
            <a:r>
              <a:rPr lang="en-IN" dirty="0"/>
              <a:t> A R L</a:t>
            </a:r>
          </a:p>
          <a:p>
            <a:pPr algn="ctr"/>
            <a:r>
              <a:rPr lang="en-IN" dirty="0"/>
              <a:t>                                      Madhumitha K 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{21F6CFE4-ED70-47C7-B6F1-E889BE5CBE26}TF8a9b5915-b8c7-461e-8cdd-693d48b5e32371f7b7e2_win32-4bf0b9a2ea37</Template>
  <TotalTime>604</TotalTime>
  <Words>475</Words>
  <Application>Microsoft Office PowerPoint</Application>
  <PresentationFormat>Widescreen</PresentationFormat>
  <Paragraphs>86</Paragraphs>
  <Slides>15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Custom</vt:lpstr>
      <vt:lpstr>accident  shield - IoT based smart crash detection system</vt:lpstr>
      <vt:lpstr>INTRODUCTION</vt:lpstr>
      <vt:lpstr>PROBLEM STATEMENT</vt:lpstr>
      <vt:lpstr>existing SOLUTION </vt:lpstr>
      <vt:lpstr>Working principle</vt:lpstr>
      <vt:lpstr>Components used</vt:lpstr>
      <vt:lpstr>How it works</vt:lpstr>
      <vt:lpstr>PowerPoint Presentation</vt:lpstr>
      <vt:lpstr>System architecture</vt:lpstr>
      <vt:lpstr>Components layout</vt:lpstr>
      <vt:lpstr>Initial prototype</vt:lpstr>
      <vt:lpstr>limitations</vt:lpstr>
      <vt:lpstr>advantages</vt:lpstr>
      <vt:lpstr>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Srinidhi Shanmugam</dc:creator>
  <cp:lastModifiedBy>Srinidhi Shanmugam</cp:lastModifiedBy>
  <cp:revision>2</cp:revision>
  <dcterms:created xsi:type="dcterms:W3CDTF">2026-03-02T06:04:42Z</dcterms:created>
  <dcterms:modified xsi:type="dcterms:W3CDTF">2026-03-02T23:32:36Z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